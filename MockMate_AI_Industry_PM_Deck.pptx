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658368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9EB7FF"/>
                </a:solidFill>
              </a:rPr>
              <a:t>PRODUCT INTERN ASSIGNMENT · AI AVATAR PRODUCT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25880"/>
            <a:ext cx="7315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300" b="1">
                <a:solidFill>
                  <a:srgbClr val="FFFFFF"/>
                </a:solidFill>
              </a:rPr>
              <a:t>MockMate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05740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0">
                <a:solidFill>
                  <a:srgbClr val="D6E0EF"/>
                </a:solidFill>
              </a:rPr>
              <a:t>Practice interviews like they're real.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788920"/>
            <a:ext cx="7315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AAB9CC"/>
                </a:solidFill>
              </a:rPr>
              <a:t>Adaptive interview practice for Product Management candidates.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41080" y="1188720"/>
            <a:ext cx="2468880" cy="4023360"/>
          </a:xfrm>
          <a:prstGeom prst="roundRect">
            <a:avLst/>
          </a:prstGeom>
          <a:solidFill>
            <a:srgbClr val="182B44"/>
          </a:solidFill>
          <a:ln>
            <a:solidFill>
              <a:srgbClr val="2B43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41080" y="4754880"/>
            <a:ext cx="24688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ALEX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41080" y="5047488"/>
            <a:ext cx="24688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>
                <a:solidFill>
                  <a:srgbClr val="8FA4BD"/>
                </a:solidFill>
              </a:rPr>
              <a:t>AI INTERVIEWER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585216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8EA3BE"/>
                </a:solidFill>
              </a:rPr>
              <a:t>MVP · VALIDATION · PRODUCT THINKING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75488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315EFB"/>
                </a:solidFill>
              </a:rPr>
              <a:t>01 ·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900" b="1">
                <a:solidFill>
                  <a:srgbClr val="142033"/>
                </a:solidFill>
              </a:rPr>
              <a:t>Interview preparation is abundant. Realistic practice isn't.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6D7B8E"/>
                </a:solidFill>
              </a:rPr>
              <a:t>The opportunity is a practice loop, not another content library.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240280"/>
            <a:ext cx="3429000" cy="2468880"/>
          </a:xfrm>
          <a:prstGeom prst="roundRect">
            <a:avLst/>
          </a:prstGeom>
          <a:solidFill>
            <a:srgbClr val="FFFFFF"/>
          </a:solidFill>
          <a:ln>
            <a:solidFill>
              <a:srgbClr val="E2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1" y="2386584"/>
            <a:ext cx="3099816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142033"/>
                </a:solidFill>
              </a:rPr>
              <a:t>STATIC CONTENT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1" y="2752344"/>
            <a:ext cx="3099816" cy="18470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6D7B8E"/>
                </a:solidFill>
              </a:rPr>
              <a:t>Question banks and videos are accessible.
But they don't reproduce adaptive interviewer pressure.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70832" y="2240280"/>
            <a:ext cx="3429000" cy="2468880"/>
          </a:xfrm>
          <a:prstGeom prst="roundRect">
            <a:avLst/>
          </a:prstGeom>
          <a:solidFill>
            <a:srgbClr val="FFFFFF"/>
          </a:solidFill>
          <a:ln>
            <a:solidFill>
              <a:srgbClr val="E2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35424" y="2386584"/>
            <a:ext cx="3099816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142033"/>
                </a:solidFill>
              </a:rPr>
              <a:t>HUMAN MOCKS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35424" y="2752344"/>
            <a:ext cx="3099816" cy="18470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6D7B8E"/>
                </a:solidFill>
              </a:rPr>
              <a:t>High realism.
But availability, consistency and cost limit repetition.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01583" y="2240280"/>
            <a:ext cx="3429000" cy="2468880"/>
          </a:xfrm>
          <a:prstGeom prst="roundRect">
            <a:avLst/>
          </a:prstGeom>
          <a:solidFill>
            <a:srgbClr val="FFFFFF"/>
          </a:solidFill>
          <a:ln>
            <a:solidFill>
              <a:srgbClr val="E2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66175" y="2386584"/>
            <a:ext cx="3099816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142033"/>
                </a:solidFill>
              </a:rPr>
              <a:t>PRODUCT GAP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66175" y="2752344"/>
            <a:ext cx="3099816" cy="18470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6D7B8E"/>
                </a:solidFill>
              </a:rPr>
              <a:t>A candidate needs a partner who can challenge the answer, probe the reasoning and explain what to practice next.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257800"/>
            <a:ext cx="10241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142033"/>
                </a:solidFill>
              </a:rPr>
              <a:t>Target user: students + early-career candidates preparing for PM internships / entry-level roles.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75488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315EFB"/>
                </a:solidFill>
              </a:rPr>
              <a:t>02 · PRODUCT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900" b="1">
                <a:solidFill>
                  <a:srgbClr val="142033"/>
                </a:solidFill>
              </a:rPr>
              <a:t>A focused learning loop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6D7B8E"/>
                </a:solidFill>
              </a:rPr>
              <a:t>One session should naturally create the reason for the next session.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2331720"/>
            <a:ext cx="205740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E2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8952" y="2478024"/>
            <a:ext cx="1728216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142033"/>
                </a:solidFill>
              </a:rPr>
              <a:t>01 · SETUP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" y="2843784"/>
            <a:ext cx="1728216" cy="12984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6D7B8E"/>
                </a:solidFill>
              </a:rPr>
              <a:t>Role · type · difficulty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926079" y="2331720"/>
            <a:ext cx="205740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E2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90672" y="2478024"/>
            <a:ext cx="1728216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142033"/>
                </a:solidFill>
              </a:rPr>
              <a:t>02 · ANSWER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90672" y="2843784"/>
            <a:ext cx="1728216" cy="12984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6D7B8E"/>
                </a:solidFill>
              </a:rPr>
              <a:t>Voice or text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257800" y="2331720"/>
            <a:ext cx="205740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E2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22392" y="2478024"/>
            <a:ext cx="1728216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142033"/>
                </a:solidFill>
              </a:rPr>
              <a:t>03 · ADAPT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22392" y="2843784"/>
            <a:ext cx="1728216" cy="12984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6D7B8E"/>
                </a:solidFill>
              </a:rPr>
              <a:t>Next question reacts to reasoning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19" y="2331720"/>
            <a:ext cx="205740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E2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54111" y="2478024"/>
            <a:ext cx="1728216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142033"/>
                </a:solidFill>
              </a:rPr>
              <a:t>04 · DEBRIEF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54111" y="2843784"/>
            <a:ext cx="1728216" cy="12984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6D7B8E"/>
                </a:solidFill>
              </a:rPr>
              <a:t>6 PM competencies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921240" y="2331720"/>
            <a:ext cx="205740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E2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85832" y="2478024"/>
            <a:ext cx="1728216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142033"/>
                </a:solidFill>
              </a:rPr>
              <a:t>05 · REPEAT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85832" y="2843784"/>
            <a:ext cx="1728216" cy="12984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6D7B8E"/>
                </a:solidFill>
              </a:rPr>
              <a:t>Practice the next skill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493776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900" b="1">
                <a:solidFill>
                  <a:srgbClr val="315EFB"/>
                </a:solidFill>
              </a:rPr>
              <a:t>Setup → Answer → Adaptive probe → Debrief → Next practice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86000" y="5532120"/>
            <a:ext cx="7589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6D7B8E"/>
                </a:solidFill>
              </a:rPr>
              <a:t>MVP rule: prove the loop before adding breadth.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75488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315EFB"/>
                </a:solidFill>
              </a:rPr>
              <a:t>03 · WHY AVATAR?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900" b="1">
                <a:solidFill>
                  <a:srgbClr val="142033"/>
                </a:solidFill>
              </a:rPr>
              <a:t>The avatar is a hypothesis, not decoration.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6D7B8E"/>
                </a:solidFill>
              </a:rPr>
              <a:t>The visual interviewer creates context; adaptive AI creates the learning value.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286000"/>
            <a:ext cx="3383280" cy="2331720"/>
          </a:xfrm>
          <a:prstGeom prst="roundRect">
            <a:avLst/>
          </a:prstGeom>
          <a:solidFill>
            <a:srgbClr val="FFFFFF"/>
          </a:solidFill>
          <a:ln>
            <a:solidFill>
              <a:srgbClr val="E2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" y="2432304"/>
            <a:ext cx="3054096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142033"/>
                </a:solidFill>
              </a:rPr>
              <a:t>QUESTION BANK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" y="2798064"/>
            <a:ext cx="3054096" cy="17099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6D7B8E"/>
                </a:solidFill>
              </a:rPr>
              <a:t>Static
No pressure
No adaptive follow-up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07408" y="2286000"/>
            <a:ext cx="3383280" cy="2331720"/>
          </a:xfrm>
          <a:prstGeom prst="roundRect">
            <a:avLst/>
          </a:prstGeom>
          <a:solidFill>
            <a:srgbClr val="FFFFFF"/>
          </a:solidFill>
          <a:ln>
            <a:solidFill>
              <a:srgbClr val="E2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2432304"/>
            <a:ext cx="3054096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142033"/>
                </a:solidFill>
              </a:rPr>
              <a:t>GENERIC CHAT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2798064"/>
            <a:ext cx="3054096" cy="17099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6D7B8E"/>
                </a:solidFill>
              </a:rPr>
              <a:t>Interactive
But can feel like a chatbot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29016" y="2286000"/>
            <a:ext cx="3383280" cy="2331720"/>
          </a:xfrm>
          <a:prstGeom prst="roundRect">
            <a:avLst/>
          </a:prstGeom>
          <a:solidFill>
            <a:srgbClr val="FFFFFF"/>
          </a:solidFill>
          <a:ln>
            <a:solidFill>
              <a:srgbClr val="E2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93608" y="2432304"/>
            <a:ext cx="3054096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142033"/>
                </a:solidFill>
              </a:rPr>
              <a:t>MOCKMATE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93608" y="2798064"/>
            <a:ext cx="3054096" cy="17099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6D7B8E"/>
                </a:solidFill>
              </a:rPr>
              <a:t>Interviewer context
Adaptive probing
Actionable debrief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212080"/>
            <a:ext cx="10241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142033"/>
                </a:solidFill>
              </a:rPr>
              <a:t>Experiment: avatar vs text-only → compare completion, perceived realism and second-session conversion.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75488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315EFB"/>
                </a:solidFill>
              </a:rPr>
              <a:t>04 · PRODUCT JUDGMENT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900" b="1">
                <a:solidFill>
                  <a:srgbClr val="142033"/>
                </a:solidFill>
              </a:rPr>
              <a:t>What we chose—and what we deliberately didn't.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6D7B8E"/>
                </a:solidFill>
              </a:rPr>
              <a:t>The strongest PM signal is knowing what not to build.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48840"/>
            <a:ext cx="342900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2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1" y="2295144"/>
            <a:ext cx="3099816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142033"/>
                </a:solidFill>
              </a:rPr>
              <a:t>NARROW ICP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1" y="2660904"/>
            <a:ext cx="3099816" cy="97840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6D7B8E"/>
                </a:solidFill>
              </a:rPr>
              <a:t>PM candidates first; don't spread the MVP.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70832" y="2148840"/>
            <a:ext cx="342900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2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35424" y="2295144"/>
            <a:ext cx="3099816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142033"/>
                </a:solidFill>
              </a:rPr>
              <a:t>ADAPTIVE QUESTIONS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35424" y="2660904"/>
            <a:ext cx="3099816" cy="97840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6D7B8E"/>
                </a:solidFill>
              </a:rPr>
              <a:t>Probe the missing reasoning dimension.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01583" y="2148840"/>
            <a:ext cx="342900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2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66175" y="2295144"/>
            <a:ext cx="3099816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142033"/>
                </a:solidFill>
              </a:rPr>
              <a:t>COMPLETION &gt; CHAT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66175" y="2660904"/>
            <a:ext cx="3099816" cy="97840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6D7B8E"/>
                </a:solidFill>
              </a:rPr>
              <a:t>Optimize for completed sessions.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069080"/>
            <a:ext cx="342900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2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4671" y="4215384"/>
            <a:ext cx="3099816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142033"/>
                </a:solidFill>
              </a:rPr>
              <a:t>FEEDBACK → ACTION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1" y="4581144"/>
            <a:ext cx="3099816" cy="97840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6D7B8E"/>
                </a:solidFill>
              </a:rPr>
              <a:t>Every debrief recommends a next skill.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70832" y="4069080"/>
            <a:ext cx="342900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2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35424" y="4215384"/>
            <a:ext cx="3099816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142033"/>
                </a:solidFill>
              </a:rPr>
              <a:t>AVATAR AS HYPOTHESIS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35424" y="4581144"/>
            <a:ext cx="3099816" cy="97840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6D7B8E"/>
                </a:solidFill>
              </a:rPr>
              <a:t>Remove it if evidence says it adds no value.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01583" y="4069080"/>
            <a:ext cx="342900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2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66175" y="4215384"/>
            <a:ext cx="3099816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142033"/>
                </a:solidFill>
              </a:rPr>
              <a:t>NO FEATURE SPRAWL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66175" y="4581144"/>
            <a:ext cx="3099816" cy="97840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6D7B8E"/>
                </a:solidFill>
              </a:rPr>
              <a:t>No marketplace, leaderboard, community or resume builder.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75488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315EFB"/>
                </a:solidFill>
              </a:rPr>
              <a:t>05 · GTM + VALIDATION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900" b="1">
                <a:solidFill>
                  <a:srgbClr val="142033"/>
                </a:solidFill>
              </a:rPr>
              <a:t>Start where the user already gathers.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6D7B8E"/>
                </a:solidFill>
              </a:rPr>
              <a:t>Beachhead: college placement communities + peer referrals.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240280"/>
            <a:ext cx="342900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E2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1" y="2386584"/>
            <a:ext cx="3099816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142033"/>
                </a:solidFill>
              </a:rPr>
              <a:t>ACQUISITION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1" y="2752344"/>
            <a:ext cx="3099816" cy="166420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6D7B8E"/>
                </a:solidFill>
              </a:rPr>
              <a:t>College groups
LinkedIn
Placement communities
Peer referrals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70832" y="2240280"/>
            <a:ext cx="342900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E2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35424" y="2386584"/>
            <a:ext cx="3099816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142033"/>
                </a:solidFill>
              </a:rPr>
              <a:t>FUNNEL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35424" y="2752344"/>
            <a:ext cx="3099816" cy="166420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6D7B8E"/>
                </a:solidFill>
              </a:rPr>
              <a:t>Landing → Start → First answer
→ Complete → Feedback
→ Second session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01583" y="2240280"/>
            <a:ext cx="342900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E2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66175" y="2386584"/>
            <a:ext cx="3099816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142033"/>
                </a:solidFill>
              </a:rPr>
              <a:t>EVIDENCE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66175" y="2752344"/>
            <a:ext cx="3099816" cy="166420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6D7B8E"/>
                </a:solidFill>
              </a:rPr>
              <a:t>Real session counts
Real quotes
Analytics screenshots
Research notes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5074920"/>
            <a:ext cx="10332720" cy="594360"/>
          </a:xfrm>
          <a:prstGeom prst="roundRect">
            <a:avLst/>
          </a:prstGeom>
          <a:solidFill>
            <a:srgbClr val="FFF6E2"/>
          </a:solidFill>
          <a:ln>
            <a:solidFill>
              <a:srgbClr val="F3DF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" y="5257800"/>
            <a:ext cx="10058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8B650F"/>
                </a:solidFill>
              </a:rPr>
              <a:t>REQUIRED BEFORE SUBMISSION: replace this framework with actual user evidence. Never fabricate traction.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75488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315EFB"/>
                </a:solidFill>
              </a:rPr>
              <a:t>06 · METRICS + LEARNING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900" b="1">
                <a:solidFill>
                  <a:srgbClr val="142033"/>
                </a:solidFill>
              </a:rPr>
              <a:t>Measure behavior, then change the product.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6D7B8E"/>
                </a:solidFill>
              </a:rPr>
              <a:t>North Star: completed interview sessions.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286000"/>
            <a:ext cx="251460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E2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1" y="2432304"/>
            <a:ext cx="2185416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142033"/>
                </a:solidFill>
              </a:rPr>
              <a:t>ACTIVATION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1" y="2798064"/>
            <a:ext cx="2185416" cy="12984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6D7B8E"/>
                </a:solidFill>
              </a:rPr>
              <a:t>First answer submitted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9000" y="2286000"/>
            <a:ext cx="251460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E2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93592" y="2432304"/>
            <a:ext cx="2185416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142033"/>
                </a:solidFill>
              </a:rPr>
              <a:t>COMPLETION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93592" y="2798064"/>
            <a:ext cx="2185416" cy="12984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6D7B8E"/>
                </a:solidFill>
              </a:rPr>
              <a:t>5+ meaningful answers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2286000"/>
            <a:ext cx="251460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E2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82512" y="2432304"/>
            <a:ext cx="2185416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142033"/>
                </a:solidFill>
              </a:rPr>
              <a:t>REPEAT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82512" y="2798064"/>
            <a:ext cx="2185416" cy="12984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6D7B8E"/>
                </a:solidFill>
              </a:rPr>
              <a:t>Second interview started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06839" y="2286000"/>
            <a:ext cx="251460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E2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71431" y="2432304"/>
            <a:ext cx="2185416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142033"/>
                </a:solidFill>
              </a:rPr>
              <a:t>OUTCOME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71431" y="2798064"/>
            <a:ext cx="2185416" cy="12984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6D7B8E"/>
                </a:solidFill>
              </a:rPr>
              <a:t>Recommended next practice started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80060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315EFB"/>
                </a:solidFill>
              </a:rPr>
              <a:t>Learning format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5166360"/>
            <a:ext cx="10058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100" b="1">
                <a:solidFill>
                  <a:srgbClr val="142033"/>
                </a:solidFill>
              </a:rPr>
              <a:t>WE EXPECTED → WE OBSERVED → WE CHANGED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60320" y="5760720"/>
            <a:ext cx="7040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6D7B8E"/>
                </a:solidFill>
              </a:rPr>
              <a:t>Populate with real evidence after validation.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75488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315EFB"/>
                </a:solidFill>
              </a:rPr>
              <a:t>07 · NEXT 2 WEEKS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900" b="1">
                <a:solidFill>
                  <a:srgbClr val="142033"/>
                </a:solidFill>
              </a:rPr>
              <a:t>Resolve the product questions before adding features.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6D7B8E"/>
                </a:solidFill>
              </a:rPr>
              <a:t>Three experiments decide what deserves the next build cycle.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240280"/>
            <a:ext cx="3429000" cy="2468880"/>
          </a:xfrm>
          <a:prstGeom prst="roundRect">
            <a:avLst/>
          </a:prstGeom>
          <a:solidFill>
            <a:srgbClr val="FFFFFF"/>
          </a:solidFill>
          <a:ln>
            <a:solidFill>
              <a:srgbClr val="E2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1" y="2386584"/>
            <a:ext cx="3099816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142033"/>
                </a:solidFill>
              </a:rPr>
              <a:t>E1 · AVATAR VALUE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1" y="2752344"/>
            <a:ext cx="3099816" cy="18470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6D7B8E"/>
                </a:solidFill>
              </a:rPr>
              <a:t>Avatar vs text-only
Metric: completion + repeat
Decision: keep / remove / redesign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70832" y="2240280"/>
            <a:ext cx="3429000" cy="2468880"/>
          </a:xfrm>
          <a:prstGeom prst="roundRect">
            <a:avLst/>
          </a:prstGeom>
          <a:solidFill>
            <a:srgbClr val="FFFFFF"/>
          </a:solidFill>
          <a:ln>
            <a:solidFill>
              <a:srgbClr val="E2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35424" y="2386584"/>
            <a:ext cx="3099816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142033"/>
                </a:solidFill>
              </a:rPr>
              <a:t>E2 · DEBRIEF VALUE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35424" y="2752344"/>
            <a:ext cx="3099816" cy="18470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6D7B8E"/>
                </a:solidFill>
              </a:rPr>
              <a:t>Generic vs personalized
Metric: next-practice start
Decision: improve feedback loop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01583" y="2240280"/>
            <a:ext cx="3429000" cy="2468880"/>
          </a:xfrm>
          <a:prstGeom prst="roundRect">
            <a:avLst/>
          </a:prstGeom>
          <a:solidFill>
            <a:srgbClr val="FFFFFF"/>
          </a:solidFill>
          <a:ln>
            <a:solidFill>
              <a:srgbClr val="E2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66175" y="2386584"/>
            <a:ext cx="3099816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142033"/>
                </a:solidFill>
              </a:rPr>
              <a:t>E3 · SESSION LENGTH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66175" y="2752344"/>
            <a:ext cx="3099816" cy="18470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6D7B8E"/>
                </a:solidFill>
              </a:rPr>
              <a:t>5 vs 10 questions
Metric: completion + learning quality
Decision: optimize time-to-value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257800"/>
            <a:ext cx="10241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142033"/>
                </a:solidFill>
              </a:rPr>
              <a:t>PM principle: follow the evidence, not the feature list.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